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focuses specifically on the evolution of data management systems. We will trace the journey from early relational databases to modern NoSQL architectures designed for big data and distributed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evolution begins in 1970 when the relational model was introduced. This was revolutionary because it separated logical data structure from physical storage. It introduced tables and laid the foundation for SQL.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this period, relational databases became the global standard. ACID properties ensured reliability, making them ideal for mission-critical systems. Normalization improved data integrity and reduced anomalies.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rise of Web 2.0, companies began handling massive volumes of data. Traditional vertical scaling became expensive and inefficient. This triggered the next evolutionary shift in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databases evolved as a response to big data needs. They support horizontal scaling by distributing data across clusters. They prioritize availability and flexibility over strict ACID guarantees.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organizations use hybrid approaches called polyglot persistence. Cloud-native databases and distributed systems are becoming standard. The evolution continues, driven by performance, scalability, and real-time analytics demands.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1"/>
          <p:cNvSpPr>
            <a:spLocks noGrp="1"/>
          </p:cNvSpPr>
          <p:nvPr>
            <p:ph type="ctrTitle"/>
          </p:nvPr>
        </p:nvSpPr>
        <p:spPr/>
        <p:txBody>
          <a:bodyPr/>
          <a:lstStyle/>
          <a:p>
            <a:pPr>
              <a:defRPr sz="3600" b="1">
                <a:solidFill>
                  <a:srgbClr val="192F59"/>
                </a:solidFill>
              </a:defRPr>
            </a:pPr>
            <a:r>
              <a:t>The Evolution of Data Management</a:t>
            </a:r>
          </a:p>
        </p:txBody>
      </p:sp>
      <p:sp>
        <p:nvSpPr>
          <p:cNvPr id="3" name="Subtitle 2"/>
          <p:cNvSpPr>
            <a:spLocks noGrp="1"/>
          </p:cNvSpPr>
          <p:nvPr>
            <p:ph type="subTitle" idx="1"/>
          </p:nvPr>
        </p:nvSpPr>
        <p:spPr/>
        <p:txBody>
          <a:bodyPr/>
          <a:lstStyle/>
          <a:p>
            <a:r>
              <a:t>From Relational Foundations to the Big Data Era</a:t>
            </a:r>
          </a:p>
          <a:p>
            <a:r>
              <a:t>Asmit Nepal</a:t>
            </a:r>
          </a:p>
          <a:p>
            <a:r>
              <a:t>Patan College for Professional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192F59"/>
                </a:solidFill>
              </a:defRPr>
            </a:pPr>
            <a:r>
              <a:t>1970s: The Relational Revolution</a:t>
            </a:r>
          </a:p>
        </p:txBody>
      </p:sp>
      <p:sp>
        <p:nvSpPr>
          <p:cNvPr id="3" name="Content Placeholder 2"/>
          <p:cNvSpPr>
            <a:spLocks noGrp="1"/>
          </p:cNvSpPr>
          <p:nvPr>
            <p:ph idx="1"/>
          </p:nvPr>
        </p:nvSpPr>
        <p:spPr/>
        <p:txBody>
          <a:bodyPr/>
          <a:lstStyle/>
          <a:p>
            <a:pPr>
              <a:defRPr sz="2000">
                <a:solidFill>
                  <a:srgbClr val="323232"/>
                </a:solidFill>
              </a:defRPr>
            </a:pPr>
            <a:r>
              <a:t>• 1970: Relational Model proposed by E.F. Codd</a:t>
            </a:r>
          </a:p>
          <a:p>
            <a:pPr>
              <a:defRPr sz="2000">
                <a:solidFill>
                  <a:srgbClr val="323232"/>
                </a:solidFill>
              </a:defRPr>
            </a:pPr>
            <a:r>
              <a:t>• Concept of Data Independence</a:t>
            </a:r>
          </a:p>
          <a:p>
            <a:pPr>
              <a:defRPr sz="2000">
                <a:solidFill>
                  <a:srgbClr val="323232"/>
                </a:solidFill>
              </a:defRPr>
            </a:pPr>
            <a:r>
              <a:t>• Tables, tuples, attributes</a:t>
            </a:r>
          </a:p>
          <a:p>
            <a:pPr>
              <a:defRPr sz="2000">
                <a:solidFill>
                  <a:srgbClr val="323232"/>
                </a:solidFill>
              </a:defRPr>
            </a:pPr>
            <a:r>
              <a:t>• Foundation of SQL-based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192F59"/>
                </a:solidFill>
              </a:defRPr>
            </a:pPr>
            <a:r>
              <a:t>1980s–2000s: RDBMS Dominance</a:t>
            </a:r>
          </a:p>
        </p:txBody>
      </p:sp>
      <p:sp>
        <p:nvSpPr>
          <p:cNvPr id="3" name="Content Placeholder 2"/>
          <p:cNvSpPr>
            <a:spLocks noGrp="1"/>
          </p:cNvSpPr>
          <p:nvPr>
            <p:ph idx="1"/>
          </p:nvPr>
        </p:nvSpPr>
        <p:spPr/>
        <p:txBody>
          <a:bodyPr/>
          <a:lstStyle/>
          <a:p>
            <a:pPr>
              <a:defRPr sz="2000">
                <a:solidFill>
                  <a:srgbClr val="323232"/>
                </a:solidFill>
              </a:defRPr>
            </a:pPr>
            <a:r>
              <a:t>• Commercial RDBMS adoption worldwide</a:t>
            </a:r>
          </a:p>
          <a:p>
            <a:pPr>
              <a:defRPr sz="2000">
                <a:solidFill>
                  <a:srgbClr val="323232"/>
                </a:solidFill>
              </a:defRPr>
            </a:pPr>
            <a:r>
              <a:t>• Normalization (3NF) reduces redundancy</a:t>
            </a:r>
          </a:p>
          <a:p>
            <a:pPr>
              <a:defRPr sz="2000">
                <a:solidFill>
                  <a:srgbClr val="323232"/>
                </a:solidFill>
              </a:defRPr>
            </a:pPr>
            <a:r>
              <a:t>• ACID transactional model</a:t>
            </a:r>
          </a:p>
          <a:p>
            <a:pPr>
              <a:defRPr sz="2000">
                <a:solidFill>
                  <a:srgbClr val="323232"/>
                </a:solidFill>
              </a:defRPr>
            </a:pPr>
            <a:r>
              <a:t>• Enterprise, banking, healthcare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192F59"/>
                </a:solidFill>
              </a:defRPr>
            </a:pPr>
            <a:r>
              <a:t>2005–2015: The Big Data Challenge</a:t>
            </a:r>
          </a:p>
        </p:txBody>
      </p:sp>
      <p:sp>
        <p:nvSpPr>
          <p:cNvPr id="3" name="Content Placeholder 2"/>
          <p:cNvSpPr>
            <a:spLocks noGrp="1"/>
          </p:cNvSpPr>
          <p:nvPr>
            <p:ph idx="1"/>
          </p:nvPr>
        </p:nvSpPr>
        <p:spPr/>
        <p:txBody>
          <a:bodyPr/>
          <a:lstStyle/>
          <a:p>
            <a:pPr>
              <a:defRPr sz="2000">
                <a:solidFill>
                  <a:srgbClr val="323232"/>
                </a:solidFill>
              </a:defRPr>
            </a:pPr>
            <a:r>
              <a:t>• Explosion of web &amp; social media data</a:t>
            </a:r>
          </a:p>
          <a:p>
            <a:pPr>
              <a:defRPr sz="2000">
                <a:solidFill>
                  <a:srgbClr val="323232"/>
                </a:solidFill>
              </a:defRPr>
            </a:pPr>
            <a:r>
              <a:t>• Unstructured &amp; semi-structured formats</a:t>
            </a:r>
          </a:p>
          <a:p>
            <a:pPr>
              <a:defRPr sz="2000">
                <a:solidFill>
                  <a:srgbClr val="323232"/>
                </a:solidFill>
              </a:defRPr>
            </a:pPr>
            <a:r>
              <a:t>• Scalability limitations of vertical scaling</a:t>
            </a:r>
          </a:p>
          <a:p>
            <a:pPr>
              <a:defRPr sz="2000">
                <a:solidFill>
                  <a:srgbClr val="323232"/>
                </a:solidFill>
              </a:defRPr>
            </a:pPr>
            <a:r>
              <a:t>• Need for distributed architectures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192F59"/>
                </a:solidFill>
              </a:defRPr>
            </a:pPr>
            <a:r>
              <a:t>The Rise of NoSQL Systems</a:t>
            </a:r>
          </a:p>
        </p:txBody>
      </p:sp>
      <p:sp>
        <p:nvSpPr>
          <p:cNvPr id="3" name="Content Placeholder 2"/>
          <p:cNvSpPr>
            <a:spLocks noGrp="1"/>
          </p:cNvSpPr>
          <p:nvPr>
            <p:ph idx="1"/>
          </p:nvPr>
        </p:nvSpPr>
        <p:spPr/>
        <p:txBody>
          <a:bodyPr/>
          <a:lstStyle/>
          <a:p>
            <a:pPr>
              <a:defRPr sz="2000">
                <a:solidFill>
                  <a:srgbClr val="323232"/>
                </a:solidFill>
              </a:defRPr>
            </a:pPr>
            <a:r>
              <a:t>• Schema flexibility (Document, Key-Value, Graph)</a:t>
            </a:r>
          </a:p>
          <a:p>
            <a:pPr>
              <a:defRPr sz="2000">
                <a:solidFill>
                  <a:srgbClr val="323232"/>
                </a:solidFill>
              </a:defRPr>
            </a:pPr>
            <a:r>
              <a:t>• Horizontal scaling (cluster-based growth)</a:t>
            </a:r>
          </a:p>
          <a:p>
            <a:pPr>
              <a:defRPr sz="2000">
                <a:solidFill>
                  <a:srgbClr val="323232"/>
                </a:solidFill>
              </a:defRPr>
            </a:pPr>
            <a:r>
              <a:t>• High availability</a:t>
            </a:r>
          </a:p>
          <a:p>
            <a:pPr>
              <a:defRPr sz="2000">
                <a:solidFill>
                  <a:srgbClr val="323232"/>
                </a:solidFill>
              </a:defRPr>
            </a:pPr>
            <a:r>
              <a:t>• Eventual consistency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192F59"/>
                </a:solidFill>
              </a:defRPr>
            </a:pPr>
            <a:r>
              <a:t>Present &amp; Future: Hybrid Data Ecosystems</a:t>
            </a:r>
          </a:p>
        </p:txBody>
      </p:sp>
      <p:sp>
        <p:nvSpPr>
          <p:cNvPr id="3" name="Content Placeholder 2"/>
          <p:cNvSpPr>
            <a:spLocks noGrp="1"/>
          </p:cNvSpPr>
          <p:nvPr>
            <p:ph idx="1"/>
          </p:nvPr>
        </p:nvSpPr>
        <p:spPr/>
        <p:txBody>
          <a:bodyPr/>
          <a:lstStyle/>
          <a:p>
            <a:pPr>
              <a:defRPr sz="2000">
                <a:solidFill>
                  <a:srgbClr val="323232"/>
                </a:solidFill>
              </a:defRPr>
            </a:pPr>
            <a:r>
              <a:t>• Polyglot persistence strategy</a:t>
            </a:r>
          </a:p>
          <a:p>
            <a:pPr>
              <a:defRPr sz="2000">
                <a:solidFill>
                  <a:srgbClr val="323232"/>
                </a:solidFill>
              </a:defRPr>
            </a:pPr>
            <a:r>
              <a:t>• Cloud-native databases</a:t>
            </a:r>
          </a:p>
          <a:p>
            <a:pPr>
              <a:defRPr sz="2000">
                <a:solidFill>
                  <a:srgbClr val="323232"/>
                </a:solidFill>
              </a:defRPr>
            </a:pPr>
            <a:r>
              <a:t>• Performance benchmarking (PostgreSQL vs MySQL)</a:t>
            </a:r>
          </a:p>
          <a:p>
            <a:pPr>
              <a:defRPr sz="2000">
                <a:solidFill>
                  <a:srgbClr val="323232"/>
                </a:solidFill>
              </a:defRPr>
            </a:pPr>
            <a:r>
              <a:t>• Strategic DBMS selection based on workload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